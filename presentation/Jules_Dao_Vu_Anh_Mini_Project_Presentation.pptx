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6" r:id="rId4"/>
    <p:sldId id="261" r:id="rId5"/>
    <p:sldId id="259" r:id="rId6"/>
    <p:sldId id="260" r:id="rId7"/>
    <p:sldId id="27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80" r:id="rId21"/>
    <p:sldId id="281" r:id="rId22"/>
    <p:sldId id="283" r:id="rId23"/>
    <p:sldId id="284" r:id="rId24"/>
    <p:sldId id="282" r:id="rId25"/>
    <p:sldId id="285" r:id="rId26"/>
    <p:sldId id="278" r:id="rId27"/>
    <p:sldId id="279" r:id="rId2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8"/>
    <p:restoredTop sz="76008"/>
  </p:normalViewPr>
  <p:slideViewPr>
    <p:cSldViewPr snapToGrid="0">
      <p:cViewPr>
        <p:scale>
          <a:sx n="151" d="100"/>
          <a:sy n="151" d="100"/>
        </p:scale>
        <p:origin x="-344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This project tests whether macro information helps forecast the next five days of volatility, across seven sector groups, with April 2025 as the stress test.</a:t>
            </a:r>
          </a:p>
          <a:p>
            <a:r>
              <a:t>- I'll walk through the experiment and main findings. The written report has the deeper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Main question: how well can a model predict volatility in an extreme event, and do macro indicators add anything beyond recent volatility and returns?</a:t>
            </a:r>
          </a:p>
          <a:p>
            <a:r>
              <a:t>- Second question: does the contribution differ by sector?</a:t>
            </a:r>
          </a:p>
          <a:p>
            <a:r>
              <a:t>- April 2025 is the case study; calmer and later periods are comparisons.</a:t>
            </a:r>
          </a:p>
          <a:p>
            <a:r>
              <a:t>- I compare forecast error. I am not claiming the tariffs caused anything and I am not testing trading profit.</a:t>
            </a:r>
          </a:p>
          <a:p/>
          <a:p>
            <a:r>
              <a:t>IF ASKED (WHY):</a:t>
            </a:r>
          </a:p>
          <a:p>
            <a:r>
              <a:t>- Why volatility and not price direction: volatility measures the size of moves, and sharp drops and sharp rallies both raise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Apr 2: broad tariffs announced. Apr 9: 90-day pause for most partners.</a:t>
            </a:r>
          </a:p>
          <a:p>
            <a:r>
              <a:t>- Volatility surged everywhere, but not equally. Relative to each sector's own 2024 baseline, Energy peaked at 5.8x, Financials 5.3x, Defensive 3.7x.</a:t>
            </a:r>
          </a:p>
          <a:p>
            <a:r>
              <a:t>- All peaks fell on April 9. This is a descriptive case study, not causal identification.</a:t>
            </a:r>
          </a:p>
          <a:p/>
          <a:p>
            <a:r>
              <a:t>IF ASKED (WHY):</a:t>
            </a:r>
          </a:p>
          <a:p>
            <a:r>
              <a:t>- Why sector level: the shock hit sectors differently, and one index could hide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Six steps: data, features and target, chronological validation, evaluation, final test, then feature contribution.</a:t>
            </a:r>
          </a:p>
          <a:p>
            <a:r>
              <a:t>- Every series goes through exactly the same experiment, so comparisons are fair.</a:t>
            </a:r>
          </a:p>
          <a:p>
            <a:r>
              <a:t>- The winning model family is chosen from training cross-validation, not from the final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Hypothesis: recent volatility captures persistence, while inflation expectations and the yield curve may add information about economic conditions.</a:t>
            </a:r>
          </a:p>
          <a:p>
            <a:r>
              <a:t>- The test is incremental: do they lower forecast error after price history is already in the model?</a:t>
            </a:r>
          </a:p>
          <a:p>
            <a:r>
              <a:t>- Macro series are transformed with five-day changes to reduce drift. The transform was chosen by training cross-validation, never by test performance.</a:t>
            </a:r>
          </a:p>
          <a:p/>
          <a:p>
            <a:r>
              <a:t>IF ASKED (WHY):</a:t>
            </a:r>
          </a:p>
          <a:p>
            <a:r>
              <a:t>- Why change5: raw levels made validation worse (about +0.08 RMSE); five-day changes were least harmful.</a:t>
            </a:r>
          </a:p>
          <a:p>
            <a:r>
              <a:t>- What levels / z-scores / changes mean: level = raw value, z-score = distance from the training average in standard deviations, change = five-day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Macro fundamentals and VIX are different information. VIX is the option market's expectation of S&amp;P 500 volatility over roughly 30 days; my target is five days.</a:t>
            </a:r>
          </a:p>
          <a:p>
            <a:r>
              <a:t>- I separate them to see which kind of information contributes. VIX is market-wide, not sector-specific.</a:t>
            </a:r>
          </a:p>
          <a:p/>
          <a:p>
            <a:r>
              <a:t>IF ASKED (WHY):</a:t>
            </a:r>
          </a:p>
          <a:p>
            <a:r>
              <a:t>- Why same-day VIX: it is known after the close, so there is no look-ahead. Slower macro series are lagged one to two days.</a:t>
            </a:r>
          </a:p>
          <a:p>
            <a:r>
              <a:t>- Do you have implied volatility: only VIX, which is market-wide, not sector-level.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Four information sets: price only, price + fundamentals, price + VIX, and everything together.</a:t>
            </a:r>
          </a:p>
          <a:p>
            <a:r>
              <a:t>- All use the same eligible dates, so any difference comes from the added features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Daily data, January 2015 to October 2026, from Yahoo Finance and FRED. 503 current S&amp;P 500 stocks.</a:t>
            </a:r>
          </a:p>
          <a:p>
            <a:r>
              <a:t>- Cleaning: drop missing or invalid prices and impossible high-low ranges. Returns are computed before filtering to keep the true trading calendar.</a:t>
            </a:r>
          </a:p>
          <a:p>
            <a:r>
              <a:t>- Limitation: current constituents only, so there is survivorship bias.</a:t>
            </a:r>
          </a:p>
          <a:p/>
          <a:p>
            <a:r>
              <a:t>IF ASKED (WHY):</a:t>
            </a:r>
          </a:p>
          <a:p>
            <a:r>
              <a:t>- Why data to 2026: the final test needs the whole period after the shock, not just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Groups A-G are the average variance of the stocks in each group (GICS-based). E is the rest of the market.</a:t>
            </a:r>
          </a:p>
          <a:p>
            <a:r>
              <a:t>- SPX is the actual S&amp;P 500 index; ALL is the equal-weighted average stock.</a:t>
            </a:r>
          </a:p>
          <a:p>
            <a:r>
              <a:t>- Group variance is not sector portfolio risk, which would include covariance.</a:t>
            </a:r>
          </a:p>
          <a:p/>
          <a:p>
            <a:r>
              <a:t>IF ASKED (WHY):</a:t>
            </a:r>
          </a:p>
          <a:p>
            <a:r>
              <a:t>- Why add SPX: ALL is not the S&amp;P 500. It weights every stock equally and averages out variance. In my check, calm-period volatility was about 24% for ALL against 7% for the index.</a:t>
            </a:r>
          </a:p>
          <a:p>
            <a:r>
              <a:t>- Roles: A-G are the main results, SPX is the headline series, ALL is only a comparison. Pooled tests use A-G only because ALL and SPX overlap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Daily variance comes from the high-low range: a wider range gives a larger estimate.</a:t>
            </a:r>
          </a:p>
          <a:p>
            <a:r>
              <a:t>- It misses overnight gaps. I list that as a limitation.</a:t>
            </a:r>
          </a:p>
          <a:p/>
          <a:p>
            <a:r>
              <a:t>IF ASKED (WHY):</a:t>
            </a:r>
          </a:p>
          <a:p>
            <a:r>
              <a:t>- Why not squared returns: a stock can swing widely and close flat, so its squared return is near zero while the range shows the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The target is the average of the next five days of variance, modeled in logs.</a:t>
            </a:r>
          </a:p>
          <a:p>
            <a:r>
              <a:t>- It is not the variance of a five-day cumulative return.</a:t>
            </a:r>
          </a:p>
          <a:p>
            <a:r>
              <a:t>- On the chart the target rises before the event marker, because each date shows the volatility of the next five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Features are today's variance plus five-day and 22-day averages, all known after the close.</a:t>
            </a:r>
          </a:p>
          <a:p>
            <a:r>
              <a:t>- The target lies strictly in the future. No future data enters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Logs compress extreme variance values and turn proportional changes into additive ones.</a:t>
            </a:r>
          </a:p>
          <a:p>
            <a:r>
              <a:t>- They do not remove outliers or guarantee normal errors.</a:t>
            </a:r>
          </a:p>
          <a:p/>
          <a:p>
            <a:r>
              <a:t>IF ASKED (WHY):</a:t>
            </a:r>
          </a:p>
          <a:p>
            <a:r>
              <a:t>- Why log: the model works on the same scale as the target. Forecasts are converted back to variance with a smearing correction fitted on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Three return inputs: today's return, today's negative return, and the sum of the last five daily returns.</a:t>
            </a:r>
          </a:p>
          <a:p>
            <a:r>
              <a:t>- The negative-return feature lets down days relate to future variance differently. It does not prove a causal leverage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Ridge and Lasso shrink coefficients to limit complexity. I also compare a decision tree, random forest and gradient boosting.</a:t>
            </a:r>
          </a:p>
          <a:p>
            <a:r>
              <a:t>- Two benchmarks: last-five-day variance (naive) and the historical average.</a:t>
            </a:r>
          </a:p>
          <a:p>
            <a:r>
              <a:t>- Penalties are tuned once per series and reused across feature sets.</a:t>
            </a:r>
          </a:p>
          <a:p/>
          <a:p>
            <a:r>
              <a:t>IF ASKED (WHY):</a:t>
            </a:r>
          </a:p>
          <a:p>
            <a:r>
              <a:t>- Why tune once on price-only: if each feature set got its own penalty, any difference could come from the penalty instead of the added features.</a:t>
            </a:r>
          </a:p>
          <a:p>
            <a:r>
              <a:t>- Why Ridge and Lasso: regularized, handle correlated inputs, easy to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Models are fit on log variance. Validation compares out-of-fold RMSE on that same scale.</a:t>
            </a:r>
          </a:p>
          <a:p>
            <a:r>
              <a:t>- This CV is not nested: penalty selection and model comparison reuse the training folds. I say so openly.</a:t>
            </a:r>
          </a:p>
          <a:p/>
          <a:p>
            <a:r>
              <a:t>IF ASKED (WHY):</a:t>
            </a:r>
          </a:p>
          <a:p>
            <a:r>
              <a:t>- Why not QLIKE in CV: log-variance RMSE matches what the model is trained on and is stable. The cost is that CV and test use different losses.</a:t>
            </a:r>
          </a:p>
          <a:p>
            <a:r>
              <a:t>- Is that inconsistent: it is a known mismatch. The literature recommends matching losses where possible and declaring the loss in advance. I report QLIKE, volatility RMSE and asymmetric RMSE on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SAY:</a:t>
            </a:r>
          </a:p>
          <a:p>
            <a:r>
              <a:t>- QLIKE compares variance in proportional terms and penalizes under-forecasting heavily.</a:t>
            </a:r>
          </a:p>
          <a:p>
            <a:r>
              <a:t>- Volatility RMSE is in annualized volatility points, so it is easy to read. Asymmetric RMSE weights under-forecasts twice.</a:t>
            </a:r>
          </a:p>
          <a:p/>
          <a:p>
            <a:r>
              <a:t>IF ASKED (WHY):</a:t>
            </a:r>
          </a:p>
          <a:p>
            <a:r>
              <a:t>- Why QLIKE is primary on the test: missing a spike costs more than over-forecasting.</a:t>
            </a:r>
          </a:p>
          <a:p>
            <a:r>
              <a:t>- RMSE: square root of the average squared gap between forecast and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Five expanding folds with a five-day gap, so no target crosses a boundary. Last training origin is March 7; test starts March 17.</a:t>
            </a:r>
          </a:p>
          <a:p>
            <a:r>
              <a:t>- Parameters are fitted once on all training data and kept fixed in the test; only the inputs update daily.</a:t>
            </a:r>
          </a:p>
          <a:p/>
          <a:p>
            <a:r>
              <a:t>IF ASKED (WHY):</a:t>
            </a:r>
          </a:p>
          <a:p>
            <a:r>
              <a:t>- Why start the test before April: it gives a run-up period, so April is not the first test day.</a:t>
            </a:r>
          </a:p>
          <a:p>
            <a:r>
              <a:t>- Did you use TimeSeriesSplit: yes, n_splits=5 with gap=5, inside the training data only.</a:t>
            </a:r>
          </a:p>
          <a:p>
            <a:r>
              <a:t>- What is out-of-sample: data the model never saw while fitting or choosing.</a:t>
            </a:r>
          </a:p>
          <a:p>
            <a:r>
              <a:t>- Do you rerun everything for the test: yes, every sector and feature set is fitted once on the full training period, then scored on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Lasso is first overall, only slightly ahead of Ridge (0.3547 vs 0.3554). The trees are clearly worse.</a:t>
            </a:r>
          </a:p>
          <a:p>
            <a:r>
              <a:t>- Lasso wins 24 of 28 sector-by-feature comparisons. Historical CV favors price + VIX.</a:t>
            </a:r>
          </a:p>
          <a:p/>
          <a:p>
            <a:r>
              <a:t>IF ASKED (WHY):</a:t>
            </a:r>
          </a:p>
          <a:p>
            <a:r>
              <a:t>- Why choose from CV: to keep the test clean. Lasso was chosen before seeing any test result.</a:t>
            </a:r>
          </a:p>
          <a:p>
            <a:r>
              <a:t>- Why Lasso when Ridge looks slightly better on the test: the choice was fixed from training, and the two are effectively tied. Lasso is a selection rule, not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FC50-2469-FF83-8CF8-076DDF62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3B2B4-844F-E5F5-4265-7870F20D0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B596A-4231-55C2-76D9-52EDBB213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SAY:</a:t>
            </a:r>
          </a:p>
          <a:p>
            <a:r>
              <a:t>- VIX improves historical CV; macro fundamentals make it worse.</a:t>
            </a:r>
          </a:p>
          <a:p>
            <a:r>
              <a:t>- So the macro null result is not a missing-data accident. It shows up in training validation.</a:t>
            </a:r>
          </a:p>
          <a:p/>
          <a:p>
            <a:r>
              <a:t>IF ASKED (WHY):</a:t>
            </a:r>
          </a:p>
          <a:p>
            <a:r>
              <a:t>- Why would macro make loss worse: overfitting, multicollinearity, frequency mismatch, look-ahead bias and scaling are the standard causes. I checked them on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FE506-CC20-2F30-8A34-69621F985E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422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66A2-3356-8F42-BD73-1B204D11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0D76-12C9-70FC-37D1-2003EE5F9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53545-3278-0C73-58A3-CB16CCBB0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Not the penalty: even with a separately tuned penalty, macro still hurts validation. VIX alone helps.</a:t>
            </a:r>
          </a:p>
          <a:p>
            <a:r>
              <a:t>- Macro lowers training error slightly but raises validation error: a mild overfitting pattern.</a:t>
            </a:r>
          </a:p>
          <a:p>
            <a:r>
              <a:t>- Macro has weak correlation with what price history leaves unexplained, and VIF is near one, so multicollinearity is not the cause.</a:t>
            </a:r>
          </a:p>
          <a:p>
            <a:r>
              <a:t>- A 22-day horizon does not rescue it.</a:t>
            </a:r>
          </a:p>
          <a:p/>
          <a:p>
            <a:r>
              <a:t>IF ASKED (WHY):</a:t>
            </a:r>
          </a:p>
          <a:p>
            <a:r>
              <a:t>- Is this normal: yes. The literature often finds macro adds little at short horizons because price history already contains most of the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D5A3-6CC9-44F1-B554-866D621C89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8829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AF15-EB54-58FD-0707-7A9576A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359A0-13F1-A928-00EE-12581BD3E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00EB5-F8E4-64D4-2992-9F965A7F5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The selected model is Lasso with price + VIX, chosen from training CV.</a:t>
            </a:r>
          </a:p>
          <a:p>
            <a:r>
              <a:t>- April: 33% lower QLIKE than naive, averaged over sectors. Full test: 36% lower for the S&amp;P 500.</a:t>
            </a:r>
          </a:p>
          <a:p>
            <a:r>
              <a:t>- The pooled evidence is in the full test (384 days).</a:t>
            </a:r>
          </a:p>
          <a:p/>
          <a:p>
            <a:r>
              <a:t>IF ASKED (WHY):</a:t>
            </a:r>
          </a:p>
          <a:p>
            <a:r>
              <a:t>- What is the baseline: the naive forecast is the last five days of realized variance for the same series, so each sector is compared with its own naive rule.</a:t>
            </a:r>
          </a:p>
          <a:p>
            <a:r>
              <a:t>- Why a test after CV: CV picks the model on older, calmer data. The test shows whether it works on unseen data in the shock regime.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08778-71F8-F7CD-3C88-ECDF60510E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6446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8AE9-0CA5-FC35-CD84-397A4905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1F413-9237-1720-CBAC-4E906B0F3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F9BC6-4046-3178-3F7D-C5AC8FE1A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The CV ranking carries over to the test in direction, and Ridge and Lasso stay nearly tied.</a:t>
            </a:r>
          </a:p>
          <a:p>
            <a:r>
              <a:t>- The test does not change the choice. It measures how the chosen model performs.</a:t>
            </a:r>
          </a:p>
          <a:p/>
          <a:p>
            <a:r>
              <a:t>IF ASKED (WHY):</a:t>
            </a:r>
          </a:p>
          <a:p>
            <a:r>
              <a:t>- Why not switch to Ridge if it is slightly better on test: selecting on the test uses up the untouched data and biases the result. The gap is within noise anyway.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7F351-B435-C26B-1715-39A618BEB7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7654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242C-24EE-5687-E6AA-CFF2989F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9A4A-E069-B385-C8F2-87F2A759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D2DD6-C44F-3584-20CC-C62B841CF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[~1:15] SAY:</a:t>
            </a:r>
          </a:p>
          <a:p>
            <a:r>
              <a:t>- The model misses the onset: 62% actual against 19% forecast in the first three April days.</a:t>
            </a:r>
          </a:p>
          <a:p>
            <a:r>
              <a:t>- After the surge it adjusts faster than naive. The gain over naive comes from faster decay, not from predicting the surge.</a:t>
            </a:r>
          </a:p>
          <a:p/>
          <a:p>
            <a:r>
              <a:t>IF ASKED (WHY):</a:t>
            </a:r>
          </a:p>
          <a:p>
            <a:r>
              <a:t>- Why does it lag: features look backward, so nothing on April 1-2 signals the announcement. It reacts once the inputs jump, and a model trained on calm data shrinks toward normal levels.</a:t>
            </a:r>
          </a:p>
          <a:p>
            <a:r>
              <a:t>- Why naive is worse: it is exactly five days late.</a:t>
            </a:r>
          </a:p>
          <a:p>
            <a:r>
              <a:t>- Can it be fixed: not honestly after seeing the test. Future work is forward-looking inputs such as implied volatility at several horizons.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E613-EACB-7A6C-111D-F0EE2943C4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7830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A6D2-3634-9DA2-9112-3D9B32BF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7408-515B-F1F5-1A4F-305F3CE86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07C5D-EADC-6317-0034-A8CEBDCF4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All six sectors point the same way: 23-40% lower QLIKE than naive in April.</a:t>
            </a:r>
          </a:p>
          <a:p>
            <a:r>
              <a:t>- April has only 21 days and overlapping targets, roughly four independent observations. So no single sector test reaches 5%, and I treat April as descriptive.</a:t>
            </a:r>
          </a:p>
          <a:p>
            <a:r>
              <a:t>- Say this out loud: the pattern across sectors matters more than any single bar.</a:t>
            </a:r>
          </a:p>
          <a:p/>
          <a:p>
            <a:r>
              <a:t>IF ASKED (WHY):</a:t>
            </a:r>
          </a:p>
          <a:p>
            <a:r>
              <a:t>- Why are p-values so high: too little data, not zero effect. The formal evidence is the full test: p = 0.032 for the sector average and 0.003 for SPX.</a:t>
            </a:r>
          </a:p>
          <a:p>
            <a:r>
              <a:t>- Why do bootstrap and DM disagree in April: the bootstrap resamples blocks inside a 21-day window and is more optimistic. DM is the conservative one, so I trust it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22579-90FC-F8D8-E2EC-25D87D793F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6171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[~1:00] SAY:</a:t>
            </a:r>
          </a:p>
          <a:p>
            <a:r>
              <a:t>- Macro fundamentals add nothing reliable.</a:t>
            </a:r>
          </a:p>
          <a:p>
            <a:r>
              <a:t>- VIX helps in April for Energy, Defensive and Software, but over the full test it makes the pooled forecast worse (p = 0.0066).</a:t>
            </a:r>
          </a:p>
          <a:p>
            <a:r>
              <a:t>- These tests are not adjusted for multiple comparisons, so I make no stronger claim.</a:t>
            </a:r>
          </a:p>
          <a:p/>
          <a:p>
            <a:r>
              <a:t>IF ASKED (WHY):</a:t>
            </a:r>
          </a:p>
          <a:p>
            <a:r>
              <a:t>- Why VIX hurts later: it is a 30-day market-wide measure, so once the shock fades it adds noise to a five-day sector target.</a:t>
            </a:r>
          </a:p>
          <a:p>
            <a:r>
              <a:t>- Why keep VIX: it answers a different question from macro. It matters in stress and not in calm, which is itself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[~0:45] SAY:</a:t>
            </a:r>
          </a:p>
          <a:p>
            <a:r>
              <a:t>- Regularized models on recent market data beat persistence. Selected fundamentals add little. VIX depends on period and sector.</a:t>
            </a:r>
          </a:p>
          <a:p>
            <a:r>
              <a:t>- Neither approach anticipates the initial surge.</a:t>
            </a:r>
          </a:p>
          <a:p>
            <a:r>
              <a:t>- Limitations: one event, overlapping targets, survivorship, static models, non-nested CV, high-low proxy.</a:t>
            </a:r>
          </a:p>
          <a:p>
            <a:r>
              <a:t>- Next steps: more events, rolling refits, an overnight-sensitive target, and economic context in the report.</a:t>
            </a:r>
          </a:p>
          <a:p/>
          <a:p>
            <a:r>
              <a:t>IF ASKED (WHY):</a:t>
            </a:r>
          </a:p>
          <a:p>
            <a:r>
              <a:t>- Can it predict extreme events: it adapts to them faster than a simple rule, but it cannot see them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955AE6-4BBC-4B71-984C-6944BA3FE32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C7E8CD-C29F-41A2-989C-79F792B3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109FE63-E938-4D55-8F89-F488577A5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8140E93C-F4F3-4358-9963-91138605F47A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E948DBEE-97DF-432B-B174-A923FA22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BD5DD20-D73D-46D8-854B-5F97146837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596531A-0DC6-40DE-8D70-57582FC0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867EA64-FEE9-4D46-B301-90B3C830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4B44F99-C432-43EB-AC7C-6B3A2DCCDDB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077861-3E35-464C-835E-83B5DB1A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A351067-8A31-4427-8DAD-67904AFF6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B06E34A7-C9B1-4971-B7B3-C1ED00DE46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B2C93A-C59C-4803-8503-96FFA0DD793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5BE5E3-2253-499D-8B9A-9AD7FC49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0507AB3-4FE9-4A07-AB1A-DDAE1F14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8AAE70-E9FA-4466-9DFC-599EE5D7436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9747802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Volatility forecasting </a:t>
            </a:r>
            <a:r>
              <a:rPr lang="en-US"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with Macro-indicators </a:t>
            </a:r>
          </a:p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 </a:t>
            </a:r>
            <a:r>
              <a:rPr sz="400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the April 2025 tariff shock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1C284-87A2-45CF-826B-F65FF9BCFDAE}"/>
              </a:ext>
            </a:extLst>
          </p:cNvPr>
          <p:cNvSpPr>
            <a:spLocks noGrp="1"/>
          </p:cNvSpPr>
          <p:nvPr/>
        </p:nvSpPr>
        <p:spPr>
          <a:xfrm>
            <a:off x="647700" y="1622563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Do macroeconomic indicators improve five-day volatility forecasts</a:t>
            </a: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 by sectors</a:t>
            </a: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1027B-0AA3-42FC-979F-472ABFBC7B3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15800-550B-449A-9F04-6A845EF5BF51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778068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Sector-level analysis of S&amp;P 500 stocks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DFFAC-728B-4A74-AED0-39636D65F07B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Jules Dao Vu Anh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E4349F-D4D7-4AF1-9B5F-6F3CD612FA09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DATA 400 personal mini-project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74638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93ACF8-777C-41D4-B858-C687E1C9DB9A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Research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E86DF-4BF5-4BF9-8BEE-7D55A9970810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Additional predictive value beyond recent volatility and returns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67379C-B80B-46D9-BBD2-E5A979238800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AE50A-E92A-4169-9DF1-8DF145CD014D}"/>
              </a:ext>
            </a:extLst>
          </p:cNvPr>
          <p:cNvSpPr>
            <a:spLocks noGrp="1"/>
          </p:cNvSpPr>
          <p:nvPr/>
        </p:nvSpPr>
        <p:spPr>
          <a:xfrm>
            <a:off x="647700" y="24098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30A08-2894-4ED3-8EA8-C6CC3663634D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5333284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What is the prediction ability of the model in extreme event? Do macroeconomic indicators improve five-day volatility forecasts? 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1A1C2-D515-4870-94EB-A65AE726DE9A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Sector 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9717B-9760-4A59-B044-470EECE29EF0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104775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their contribution differ across 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sectors</a:t>
            </a: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8EE2D4-1775-4612-9782-E99D9F9F1C07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April 2025 is the main case study. Calmer and later periods provide comparisons.</a:t>
            </a:r>
          </a:p>
        </p:txBody>
      </p:sp>
      <p:pic>
        <p:nvPicPr>
          <p:cNvPr id="11" name="Picture 10" descr="What Trump's Tariff Shock Will Cost You – Mother Jones">
            <a:extLst>
              <a:ext uri="{FF2B5EF4-FFF2-40B4-BE49-F238E27FC236}">
                <a16:creationId xmlns:a16="http://schemas.microsoft.com/office/drawing/2014/main" id="{B906316B-2C25-12CE-D052-70EE6B508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017" y="2184399"/>
            <a:ext cx="5042770" cy="28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BEB9EF-CDF9-4895-A87B-6FF569586A2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Case-study context and sector differences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5FBBE-0519-43FE-8CD5-F7F3650B6F8D}"/>
              </a:ext>
            </a:extLst>
          </p:cNvPr>
          <p:cNvSpPr>
            <a:spLocks noGrp="1"/>
          </p:cNvSpPr>
          <p:nvPr/>
        </p:nvSpPr>
        <p:spPr>
          <a:xfrm>
            <a:off x="628650" y="1360551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 market-wide surge with different relative responses across A–G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A0B0F-C8CD-4459-870F-A6B80CC4088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AFE37-1230-4C57-9938-D3BB80291BFC}"/>
              </a:ext>
            </a:extLst>
          </p:cNvPr>
          <p:cNvSpPr>
            <a:spLocks noGrp="1"/>
          </p:cNvSpPr>
          <p:nvPr/>
        </p:nvSpPr>
        <p:spPr>
          <a:xfrm>
            <a:off x="628650" y="4933748"/>
            <a:ext cx="3810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Relative daily volatility peaks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797B9-D611-4A39-A614-9E9DADD8098F}"/>
              </a:ext>
            </a:extLst>
          </p:cNvPr>
          <p:cNvSpPr>
            <a:spLocks noGrp="1"/>
          </p:cNvSpPr>
          <p:nvPr/>
        </p:nvSpPr>
        <p:spPr>
          <a:xfrm>
            <a:off x="628650" y="5457623"/>
            <a:ext cx="3810000" cy="19625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Energy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5.80× baseline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Financials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5.27× baseline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Defensive</a:t>
            </a:r>
            <a:r>
              <a:rPr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 3.74× baseline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05AD01-7DF3-448D-1A37-2C20927E9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2" y="1849901"/>
            <a:ext cx="6318738" cy="23315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B5972-4685-0F6D-B5C3-19FE17CAA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2" y="4122801"/>
            <a:ext cx="6403835" cy="25176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638104E-98EE-277A-2C21-93787421C62B}"/>
              </a:ext>
            </a:extLst>
          </p:cNvPr>
          <p:cNvSpPr>
            <a:spLocks noGrp="1"/>
          </p:cNvSpPr>
          <p:nvPr/>
        </p:nvSpPr>
        <p:spPr>
          <a:xfrm>
            <a:off x="628650" y="1923848"/>
            <a:ext cx="3810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Event timeline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997E9D-E39D-6314-9895-C47842A4BAED}"/>
              </a:ext>
            </a:extLst>
          </p:cNvPr>
          <p:cNvSpPr>
            <a:spLocks noGrp="1"/>
          </p:cNvSpPr>
          <p:nvPr/>
        </p:nvSpPr>
        <p:spPr>
          <a:xfrm>
            <a:off x="628650" y="2447723"/>
            <a:ext cx="4044462" cy="19625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 2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Broad US tariffs announced.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 9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Higher tariffs paused for most partners; China excluded.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Economic risks</a:t>
            </a: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Higher costs, inflation and weaker growth.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Our focus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: Sector volatility forecasting during market stress.</a:t>
            </a:r>
          </a:p>
        </p:txBody>
      </p:sp>
    </p:spTree>
    <p:extLst>
      <p:ext uri="{BB962C8B-B14F-4D97-AF65-F5344CB8AC3E}">
        <p14:creationId xmlns:p14="http://schemas.microsoft.com/office/powerpoint/2010/main" val="195239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2B1A24CE-F8BD-27C8-404D-209B3DF762A4}"/>
              </a:ext>
            </a:extLst>
          </p:cNvPr>
          <p:cNvSpPr/>
          <p:nvPr/>
        </p:nvSpPr>
        <p:spPr>
          <a:xfrm>
            <a:off x="647700" y="2324100"/>
            <a:ext cx="399222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753203-89BC-44F1-9238-B6242B8A596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Research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62B423-8569-4B26-9403-8D00153EDDE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Every series follows the same experiment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E8348-67E1-49AE-9F04-C2E61343B20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E88680-6DB7-426D-867C-B5AAB39B1520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75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C4BF6B-D080-4D16-8F53-36F7D29F9F43}"/>
              </a:ext>
            </a:extLst>
          </p:cNvPr>
          <p:cNvSpPr>
            <a:spLocks noGrp="1"/>
          </p:cNvSpPr>
          <p:nvPr/>
        </p:nvSpPr>
        <p:spPr>
          <a:xfrm>
            <a:off x="647700" y="2847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Prices, macro series and cleaning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AC832-6231-4DC9-90DE-76AEA0BA7C4C}"/>
              </a:ext>
            </a:extLst>
          </p:cNvPr>
          <p:cNvSpPr>
            <a:spLocks noGrp="1"/>
          </p:cNvSpPr>
          <p:nvPr/>
        </p:nvSpPr>
        <p:spPr>
          <a:xfrm>
            <a:off x="647700" y="35337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02  Features and target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7254-7E95-4A99-8D2E-FBB8BBE87D71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Past inputs and future five-day variance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8D3F1-FBA0-4BA4-A66A-26AF0F17A0EE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03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V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5E2B1-16C2-4BFE-8879-159D51D0EDE2}"/>
              </a:ext>
            </a:extLst>
          </p:cNvPr>
          <p:cNvSpPr>
            <a:spLocks noGrp="1"/>
          </p:cNvSpPr>
          <p:nvPr/>
        </p:nvSpPr>
        <p:spPr>
          <a:xfrm>
            <a:off x="647700" y="52673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Expanding training and validation folds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0B002-F876-4815-BF76-49FAE7AB8075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04 </a:t>
            </a: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Evaluation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2FE0A-285F-41CC-900B-ED04A75B67D5}"/>
              </a:ext>
            </a:extLst>
          </p:cNvPr>
          <p:cNvSpPr>
            <a:spLocks noGrp="1"/>
          </p:cNvSpPr>
          <p:nvPr/>
        </p:nvSpPr>
        <p:spPr>
          <a:xfrm>
            <a:off x="6477000" y="2847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Average validation error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9BE44B-3DE0-4EC8-93EB-8A6D39489EBE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05 Final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B3647E-7511-427A-AD4B-CF01CB1A8ACE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April episode and later periods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11D18-13E6-445C-9F5A-1C9BD4DDA9D8}"/>
              </a:ext>
            </a:extLst>
          </p:cNvPr>
          <p:cNvSpPr>
            <a:spLocks noGrp="1"/>
          </p:cNvSpPr>
          <p:nvPr/>
        </p:nvSpPr>
        <p:spPr>
          <a:xfrm>
            <a:off x="6477000" y="47434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06 Feature contribution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3049DC-EBBF-4635-86C2-B7FA59E6B282}"/>
              </a:ext>
            </a:extLst>
          </p:cNvPr>
          <p:cNvSpPr>
            <a:spLocks noGrp="1"/>
          </p:cNvSpPr>
          <p:nvPr/>
        </p:nvSpPr>
        <p:spPr>
          <a:xfrm>
            <a:off x="6477000" y="52673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Paired losses and uncertainty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87DC06-5E17-FA57-99AD-74707DBDACCE}"/>
              </a:ext>
            </a:extLst>
          </p:cNvPr>
          <p:cNvSpPr/>
          <p:nvPr/>
        </p:nvSpPr>
        <p:spPr>
          <a:xfrm>
            <a:off x="628650" y="3514725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lang="en-VN" b="1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D33F43-56D9-41EF-E334-512F9D2BA2C7}"/>
              </a:ext>
            </a:extLst>
          </p:cNvPr>
          <p:cNvSpPr/>
          <p:nvPr/>
        </p:nvSpPr>
        <p:spPr>
          <a:xfrm>
            <a:off x="6391691" y="4687957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A1910A-7588-6959-35DC-04FB4A17164B}"/>
              </a:ext>
            </a:extLst>
          </p:cNvPr>
          <p:cNvSpPr/>
          <p:nvPr/>
        </p:nvSpPr>
        <p:spPr>
          <a:xfrm>
            <a:off x="6391691" y="3514725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4C629-6830-8981-6471-13216AA9ECC8}"/>
              </a:ext>
            </a:extLst>
          </p:cNvPr>
          <p:cNvSpPr/>
          <p:nvPr/>
        </p:nvSpPr>
        <p:spPr>
          <a:xfrm>
            <a:off x="6391691" y="2309812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lang="en-VN" b="1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CB736BC-73B5-2686-3CE7-EAE94659BCAB}"/>
              </a:ext>
            </a:extLst>
          </p:cNvPr>
          <p:cNvSpPr/>
          <p:nvPr/>
        </p:nvSpPr>
        <p:spPr>
          <a:xfrm>
            <a:off x="628650" y="4748212"/>
            <a:ext cx="399222" cy="400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chemeClr val="bg1"/>
                </a:solidFill>
                <a:latin typeface="Bitstream Charter"/>
              </a:rPr>
              <a:t>04</a:t>
            </a:r>
            <a:endParaRPr lang="en-VN" b="1"/>
          </a:p>
        </p:txBody>
      </p:sp>
    </p:spTree>
    <p:extLst>
      <p:ext uri="{BB962C8B-B14F-4D97-AF65-F5344CB8AC3E}">
        <p14:creationId xmlns:p14="http://schemas.microsoft.com/office/powerpoint/2010/main" val="206251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D370FB-8F9A-4BD7-93BF-5D632F6B646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include macroeconomic indicators?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882EF-442A-4ED0-BB43-20AC76BAB518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BB9169-A561-4B70-B119-7850D85037A7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6C1ED0-A643-407D-8AFA-A016DD0E1FAC}"/>
              </a:ext>
            </a:extLst>
          </p:cNvPr>
          <p:cNvSpPr>
            <a:spLocks noGrp="1"/>
          </p:cNvSpPr>
          <p:nvPr/>
        </p:nvSpPr>
        <p:spPr>
          <a:xfrm>
            <a:off x="628650" y="1484299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Possible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26A89D-3825-4A86-BD45-DFFF87F9D03B}"/>
              </a:ext>
            </a:extLst>
          </p:cNvPr>
          <p:cNvSpPr>
            <a:spLocks noGrp="1"/>
          </p:cNvSpPr>
          <p:nvPr/>
        </p:nvSpPr>
        <p:spPr>
          <a:xfrm>
            <a:off x="628650" y="2008174"/>
            <a:ext cx="10287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Inflation expectations and the yield curve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may reflect changing economic conditions.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5E3E2-D91D-4552-9A46-63C1D37FA42D}"/>
              </a:ext>
            </a:extLst>
          </p:cNvPr>
          <p:cNvSpPr>
            <a:spLocks noGrp="1"/>
          </p:cNvSpPr>
          <p:nvPr/>
        </p:nvSpPr>
        <p:spPr>
          <a:xfrm>
            <a:off x="6076950" y="1484299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The empirical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409E0-5BBD-41C3-BC07-0CDC94A1F3DA}"/>
              </a:ext>
            </a:extLst>
          </p:cNvPr>
          <p:cNvSpPr>
            <a:spLocks noGrp="1"/>
          </p:cNvSpPr>
          <p:nvPr/>
        </p:nvSpPr>
        <p:spPr>
          <a:xfrm>
            <a:off x="6076950" y="2008174"/>
            <a:ext cx="10287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that information lower forecast error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after recent volatility and returns are included?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F1A34-9DD5-4A9E-B057-9905218F117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11E29C-3D08-2F2D-75A0-8BC0C5456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0" y="3341674"/>
            <a:ext cx="65405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1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7732D0-F8B5-4EDC-AC08-0CB5F964796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examine VIX separately?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79A09-C4D2-4EE9-B980-E17587ACC6B1}"/>
              </a:ext>
            </a:extLst>
          </p:cNvPr>
          <p:cNvSpPr>
            <a:spLocks noGrp="1"/>
          </p:cNvSpPr>
          <p:nvPr/>
        </p:nvSpPr>
        <p:spPr>
          <a:xfrm>
            <a:off x="628650" y="1157288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Market-implied volatility and macro fundamentals represent different information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33331-9472-45A5-9255-6408C3157BA7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4E1EC-C208-414D-889F-F49018FA7868}"/>
              </a:ext>
            </a:extLst>
          </p:cNvPr>
          <p:cNvSpPr>
            <a:spLocks noGrp="1"/>
          </p:cNvSpPr>
          <p:nvPr/>
        </p:nvSpPr>
        <p:spPr>
          <a:xfrm>
            <a:off x="676275" y="44100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Macro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B3A85-6BE9-47B2-9BBD-0CCB2C67E6CF}"/>
              </a:ext>
            </a:extLst>
          </p:cNvPr>
          <p:cNvSpPr>
            <a:spLocks noGrp="1"/>
          </p:cNvSpPr>
          <p:nvPr/>
        </p:nvSpPr>
        <p:spPr>
          <a:xfrm>
            <a:off x="676275" y="49339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Indicators of economic conditions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and policy uncertainty.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56D62-2386-4AF7-A19A-823FEA177D4B}"/>
              </a:ext>
            </a:extLst>
          </p:cNvPr>
          <p:cNvSpPr>
            <a:spLocks noGrp="1"/>
          </p:cNvSpPr>
          <p:nvPr/>
        </p:nvSpPr>
        <p:spPr>
          <a:xfrm>
            <a:off x="6505575" y="44100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CDB56-F341-474D-8275-5E8CC418357B}"/>
              </a:ext>
            </a:extLst>
          </p:cNvPr>
          <p:cNvSpPr>
            <a:spLocks noGrp="1"/>
          </p:cNvSpPr>
          <p:nvPr/>
        </p:nvSpPr>
        <p:spPr>
          <a:xfrm>
            <a:off x="6505575" y="49339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Option-market expectations of volatility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for the S&amp;P 500.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7A74D-2CD4-4F85-A519-2C80714E6A6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VIX has a roughly 30-day horizon. Our forecasting target covers five trading days.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481F03-BC88-2219-5898-CFDC843BA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85" y="1988828"/>
            <a:ext cx="7772400" cy="17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5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4F77D9-0561-4C9B-8E76-98DF8FBF6F45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Four information 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66EDE9-14FE-415E-9759-DB9E57B42947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Matched dates isolate the contribution of added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586AE-FAF9-4FCB-86E8-B44326EFF71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47700" y="2505075"/>
          <a:ext cx="10858500" cy="2733675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Specification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Inputs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Comparison purpose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only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Recent variance and returns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Reference forecast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fundamentals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inputs + four macro features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Fundamentals beyond price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inputs + log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VIX beyond price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Price + fundamentals +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All inputs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Fundamentals beyond VIX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E7E5108-19CA-4331-A5A5-DB7FE80019AD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Every model and series uses all four specifications. Comparisons use the same eligible dates.</a:t>
            </a:r>
          </a:p>
        </p:txBody>
      </p:sp>
    </p:spTree>
    <p:extLst>
      <p:ext uri="{BB962C8B-B14F-4D97-AF65-F5344CB8AC3E}">
        <p14:creationId xmlns:p14="http://schemas.microsoft.com/office/powerpoint/2010/main" val="1673629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4FFEF5-F5EE-438F-9AC8-58CF859CBAD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Data and preprocessing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3ED67-43EB-4D8C-9B0B-719CF2A360A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Daily prices and macro series from January 2015 to October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F05E7-B102-4542-94AF-302D93CFBF3D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DCBD6-6B47-4AE7-BECE-75D4A540BC5C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Sources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81068-7037-407F-95E6-AA1688CE6C19}"/>
              </a:ext>
            </a:extLst>
          </p:cNvPr>
          <p:cNvSpPr>
            <a:spLocks noGrp="1"/>
          </p:cNvSpPr>
          <p:nvPr/>
        </p:nvSpPr>
        <p:spPr>
          <a:xfrm>
            <a:off x="647700" y="290512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Yahoo Finance: prices, VIX and USD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FRED: rates and policy uncertainty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97DC6-BD73-482B-9919-8FF85B42E3B6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Cleaning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48354-C2A7-448C-B98E-1DF50638369F}"/>
              </a:ext>
            </a:extLst>
          </p:cNvPr>
          <p:cNvSpPr>
            <a:spLocks noGrp="1"/>
          </p:cNvSpPr>
          <p:nvPr/>
        </p:nvSpPr>
        <p:spPr>
          <a:xfrm>
            <a:off x="6477000" y="29051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Remove missing or invalid prices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Check high–low ranges and group coverage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39CFD-C3F7-4209-9A87-4AF1482E1A55}"/>
              </a:ext>
            </a:extLst>
          </p:cNvPr>
          <p:cNvSpPr>
            <a:spLocks noGrp="1"/>
          </p:cNvSpPr>
          <p:nvPr/>
        </p:nvSpPr>
        <p:spPr>
          <a:xfrm>
            <a:off x="647700" y="432435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Return construction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199C6-A782-43ED-980D-BF1742F3E3A8}"/>
              </a:ext>
            </a:extLst>
          </p:cNvPr>
          <p:cNvSpPr>
            <a:spLocks noGrp="1"/>
          </p:cNvSpPr>
          <p:nvPr/>
        </p:nvSpPr>
        <p:spPr>
          <a:xfrm>
            <a:off x="647700" y="484822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Calculate returns before filtering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 preserve the original trading calendar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BA5C1-4436-4D21-9EB4-5B278A7FFED0}"/>
              </a:ext>
            </a:extLst>
          </p:cNvPr>
          <p:cNvSpPr>
            <a:spLocks noGrp="1"/>
          </p:cNvSpPr>
          <p:nvPr/>
        </p:nvSpPr>
        <p:spPr>
          <a:xfrm>
            <a:off x="6477000" y="43243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Sample limitation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0CCC5-7EBB-4848-A34D-4259E6480135}"/>
              </a:ext>
            </a:extLst>
          </p:cNvPr>
          <p:cNvSpPr>
            <a:spLocks noGrp="1"/>
          </p:cNvSpPr>
          <p:nvPr/>
        </p:nvSpPr>
        <p:spPr>
          <a:xfrm>
            <a:off x="6477000" y="48482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503 current constituent securities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Historical membership is not reconstructed</a:t>
            </a:r>
          </a:p>
        </p:txBody>
      </p:sp>
    </p:spTree>
    <p:extLst>
      <p:ext uri="{BB962C8B-B14F-4D97-AF65-F5344CB8AC3E}">
        <p14:creationId xmlns:p14="http://schemas.microsoft.com/office/powerpoint/2010/main" val="1070837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2CD523-8A0C-4A16-A2BE-75EEDB5F64E3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Sector groups and the market 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10D7B0-AA23-4B0B-B474-C9ABC500E83B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A–G describe average constituent-stock variance, while SPX is the actual index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72943-CB53-4C56-863D-1D3ADB2DB05F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47700" y="2390775"/>
          <a:ext cx="6953250" cy="3114672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3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Group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Stocks included</a:t>
                      </a:r>
                    </a:p>
                  </a:txBody>
                  <a:tcPr>
                    <a:solidFill>
                      <a:srgbClr val="14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Hardware and semiconductors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Software and IT services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Consumer discretionary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Staples, utilities and health care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Other sectors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Financials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3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Energy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C922585-29C5-4195-9387-DB69F6F9EF84}"/>
              </a:ext>
            </a:extLst>
          </p:cNvPr>
          <p:cNvSpPr>
            <a:spLocks noGrp="1"/>
          </p:cNvSpPr>
          <p:nvPr/>
        </p:nvSpPr>
        <p:spPr>
          <a:xfrm>
            <a:off x="8124825" y="2581275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Additional series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2490A-9053-49C4-B587-A724B3B3741C}"/>
              </a:ext>
            </a:extLst>
          </p:cNvPr>
          <p:cNvSpPr>
            <a:spLocks noGrp="1"/>
          </p:cNvSpPr>
          <p:nvPr/>
        </p:nvSpPr>
        <p:spPr>
          <a:xfrm>
            <a:off x="8124825" y="31051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ALL: average stock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SPX: actual S&amp;P 500 index</a:t>
            </a:r>
          </a:p>
        </p:txBody>
      </p:sp>
    </p:spTree>
    <p:extLst>
      <p:ext uri="{BB962C8B-B14F-4D97-AF65-F5344CB8AC3E}">
        <p14:creationId xmlns:p14="http://schemas.microsoft.com/office/powerpoint/2010/main" val="180710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3935A7-0D5D-4A48-A3FE-EE0C12E64CA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Measuring daily variance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BEB72F-3829-4189-B682-D3FD2BE8FFE6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The Parkinson estimator uses the daily high–low range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25B9F-2E7C-4FBD-92F9-358BE472FD8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E08DD-C828-4B79-8B96-D0BF29D254AF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10858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360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A54AF-D8D7-44EC-B971-319CD08F343C}"/>
              </a:ext>
            </a:extLst>
          </p:cNvPr>
          <p:cNvSpPr>
            <a:spLocks noGrp="1"/>
          </p:cNvSpPr>
          <p:nvPr/>
        </p:nvSpPr>
        <p:spPr>
          <a:xfrm>
            <a:off x="628650" y="422910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69D81-3E4D-4019-94B1-45FC0B3FC2EB}"/>
              </a:ext>
            </a:extLst>
          </p:cNvPr>
          <p:cNvSpPr>
            <a:spLocks noGrp="1"/>
          </p:cNvSpPr>
          <p:nvPr/>
        </p:nvSpPr>
        <p:spPr>
          <a:xfrm>
            <a:off x="628649" y="4752975"/>
            <a:ext cx="9986342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 wider daily range gives a larger variance estimate. However, this misses the overnight gap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4C08C2-72ED-7B0F-C351-6EB2ABF3D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049" y="2467844"/>
            <a:ext cx="3181902" cy="98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6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1FBE1-270F-4E52-8156-D661B6EB566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The five-day forecasting target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8C565-F886-4D13-BC36-49B31E23244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8C6C73-98EC-40D3-A701-6B6F8303C8F0}"/>
              </a:ext>
            </a:extLst>
          </p:cNvPr>
          <p:cNvSpPr>
            <a:spLocks noGrp="1"/>
          </p:cNvSpPr>
          <p:nvPr/>
        </p:nvSpPr>
        <p:spPr>
          <a:xfrm>
            <a:off x="628650" y="2472948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  <a:endParaRPr sz="18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BD42E-6569-4747-865F-9F708C743E9E}"/>
              </a:ext>
            </a:extLst>
          </p:cNvPr>
          <p:cNvSpPr>
            <a:spLocks noGrp="1"/>
          </p:cNvSpPr>
          <p:nvPr/>
        </p:nvSpPr>
        <p:spPr>
          <a:xfrm>
            <a:off x="628650" y="2847202"/>
            <a:ext cx="9993796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It is an average of future variance, not variance of a five-day cumulative return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791A35-8822-AA57-06A8-C361DC694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33" y="1362075"/>
            <a:ext cx="3512930" cy="12057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81C984-430D-14A6-0C28-855BF875A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659507"/>
            <a:ext cx="7772400" cy="277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8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F84C1F4-F7E6-4527-83A7-BBACF41097D0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Lagged and rolling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C7A50-80B3-4E4E-83A8-3F1236B3FA78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 forecast uses observed history, while the target lies strictly in the future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D4718-B90E-415C-B37C-7EB4534FBDEA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FC012-C56D-467E-B18A-55906F8D3D18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08C5A-B78E-4911-A061-FEF2BB528136}"/>
              </a:ext>
            </a:extLst>
          </p:cNvPr>
          <p:cNvSpPr>
            <a:spLocks noGrp="1"/>
          </p:cNvSpPr>
          <p:nvPr/>
        </p:nvSpPr>
        <p:spPr>
          <a:xfrm>
            <a:off x="173355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AD2BA0-C8A1-49E3-B8CE-123823AE8134}"/>
              </a:ext>
            </a:extLst>
          </p:cNvPr>
          <p:cNvSpPr>
            <a:spLocks noGrp="1"/>
          </p:cNvSpPr>
          <p:nvPr/>
        </p:nvSpPr>
        <p:spPr>
          <a:xfrm>
            <a:off x="281940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F7459-681C-4439-BD78-D1624828DB9F}"/>
              </a:ext>
            </a:extLst>
          </p:cNvPr>
          <p:cNvSpPr>
            <a:spLocks noGrp="1"/>
          </p:cNvSpPr>
          <p:nvPr/>
        </p:nvSpPr>
        <p:spPr>
          <a:xfrm>
            <a:off x="3905250" y="3629025"/>
            <a:ext cx="962025" cy="628650"/>
          </a:xfrm>
          <a:prstGeom prst="rect">
            <a:avLst/>
          </a:prstGeom>
          <a:solidFill>
            <a:srgbClr val="EDF2F6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t−1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56DBF-1B42-4A8A-9751-B01C96C0C110}"/>
              </a:ext>
            </a:extLst>
          </p:cNvPr>
          <p:cNvSpPr>
            <a:spLocks noGrp="1"/>
          </p:cNvSpPr>
          <p:nvPr/>
        </p:nvSpPr>
        <p:spPr>
          <a:xfrm>
            <a:off x="4991100" y="3629025"/>
            <a:ext cx="962025" cy="628650"/>
          </a:xfrm>
          <a:prstGeom prst="rect">
            <a:avLst/>
          </a:prstGeom>
          <a:solidFill>
            <a:srgbClr val="087E8B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413AC-633A-4B5E-8AC7-C522951D8D00}"/>
              </a:ext>
            </a:extLst>
          </p:cNvPr>
          <p:cNvSpPr>
            <a:spLocks noGrp="1"/>
          </p:cNvSpPr>
          <p:nvPr/>
        </p:nvSpPr>
        <p:spPr>
          <a:xfrm>
            <a:off x="60769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C81771-3A9D-4EAE-9990-C920FD568BB8}"/>
              </a:ext>
            </a:extLst>
          </p:cNvPr>
          <p:cNvSpPr>
            <a:spLocks noGrp="1"/>
          </p:cNvSpPr>
          <p:nvPr/>
        </p:nvSpPr>
        <p:spPr>
          <a:xfrm>
            <a:off x="716280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E9415-4AAB-4FF5-8AA9-980B21436590}"/>
              </a:ext>
            </a:extLst>
          </p:cNvPr>
          <p:cNvSpPr>
            <a:spLocks noGrp="1"/>
          </p:cNvSpPr>
          <p:nvPr/>
        </p:nvSpPr>
        <p:spPr>
          <a:xfrm>
            <a:off x="82486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028978-2A61-4EEE-B095-B02F5FFC2501}"/>
              </a:ext>
            </a:extLst>
          </p:cNvPr>
          <p:cNvSpPr>
            <a:spLocks noGrp="1"/>
          </p:cNvSpPr>
          <p:nvPr/>
        </p:nvSpPr>
        <p:spPr>
          <a:xfrm>
            <a:off x="933450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69D5A-5990-4125-B917-6F8A8D7F03C2}"/>
              </a:ext>
            </a:extLst>
          </p:cNvPr>
          <p:cNvSpPr>
            <a:spLocks noGrp="1"/>
          </p:cNvSpPr>
          <p:nvPr/>
        </p:nvSpPr>
        <p:spPr>
          <a:xfrm>
            <a:off x="10420350" y="3629025"/>
            <a:ext cx="962025" cy="628650"/>
          </a:xfrm>
          <a:prstGeom prst="rect">
            <a:avLst/>
          </a:prstGeom>
          <a:solidFill>
            <a:srgbClr val="FAF0DF"/>
          </a:solidFill>
          <a:ln w="9525">
            <a:solidFill>
              <a:srgbClr val="E1E6ED"/>
            </a:solidFill>
          </a:ln>
        </p:spPr>
        <p:txBody>
          <a:bodyPr/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t+5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46643-F873-460E-9339-87F7F9B14E5E}"/>
              </a:ext>
            </a:extLst>
          </p:cNvPr>
          <p:cNvSpPr>
            <a:spLocks noGrp="1"/>
          </p:cNvSpPr>
          <p:nvPr/>
        </p:nvSpPr>
        <p:spPr>
          <a:xfrm>
            <a:off x="1075204" y="4435849"/>
            <a:ext cx="3240741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Observed history</a:t>
            </a:r>
            <a:r>
              <a:rPr lang="en-US" sz="195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: average</a:t>
            </a:r>
            <a:endParaRPr sz="195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188FC-36ED-4312-BA9B-289D8A37EB24}"/>
              </a:ext>
            </a:extLst>
          </p:cNvPr>
          <p:cNvSpPr>
            <a:spLocks noGrp="1"/>
          </p:cNvSpPr>
          <p:nvPr/>
        </p:nvSpPr>
        <p:spPr>
          <a:xfrm>
            <a:off x="7432674" y="4423242"/>
            <a:ext cx="2706407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Future</a:t>
            </a:r>
            <a:r>
              <a:rPr lang="en-US"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 prediction</a:t>
            </a:r>
            <a:r>
              <a:rPr sz="1950" b="1">
                <a:solidFill>
                  <a:srgbClr val="BD7A25"/>
                </a:solidFill>
                <a:latin typeface="Bitstream Charter"/>
                <a:ea typeface="Bitstream Charter"/>
                <a:cs typeface="Bitstream Charter"/>
              </a:rPr>
              <a:t> target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429F8-4ECA-4C7D-A639-1985C8310CCD}"/>
              </a:ext>
            </a:extLst>
          </p:cNvPr>
          <p:cNvSpPr>
            <a:spLocks noGrp="1"/>
          </p:cNvSpPr>
          <p:nvPr/>
        </p:nvSpPr>
        <p:spPr>
          <a:xfrm>
            <a:off x="647700" y="5191125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Daily, five-day and 22-day variance features</a:t>
            </a:r>
            <a:r>
              <a:rPr lang="en-US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 to captured patterns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B932D9-C09A-F8C4-E2FB-24DBBB7CE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00" y="2276475"/>
            <a:ext cx="349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9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AF34B5-4C70-4CAA-8930-4FCFC477602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Why use log transformations?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2125-600F-421F-ABA2-405946BA9DF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Model proportional changes and reduce the scale of large variance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58743-31F8-4029-9A81-8D78D1301AA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DD412-EA9F-4CD2-9F09-5E6A4C8DDAB5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 proportional 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40AB8-F550-4545-A8A3-2FD5251962C1}"/>
              </a:ext>
            </a:extLst>
          </p:cNvPr>
          <p:cNvSpPr>
            <a:spLocks noGrp="1"/>
          </p:cNvSpPr>
          <p:nvPr/>
        </p:nvSpPr>
        <p:spPr>
          <a:xfrm>
            <a:off x="647700" y="4572000"/>
            <a:ext cx="9531724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/>
              <a:t>The logarithm of our variance features to compress these extreme values and make the scale easier for the models to work with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1958B-8505-4738-B177-D871371AD999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Logs compress the scale. They do not remove outliers or guarantee normally distributed errors.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0F16C7-97D7-CB69-6E46-7DA98F9C8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34" y="2497036"/>
            <a:ext cx="2735970" cy="104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9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EA8885-6537-4F38-9692-9A084396B6E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Return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1C03BF-3AF6-43D0-BA2D-D848E5CEAC0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Recent movements and downside returns complement volatility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E3A89-34F0-4B45-88AC-E00C7E46F3BC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02801-7525-4FF3-B6B4-FDD1E05928BB}"/>
              </a:ext>
            </a:extLst>
          </p:cNvPr>
          <p:cNvSpPr>
            <a:spLocks noGrp="1"/>
          </p:cNvSpPr>
          <p:nvPr/>
        </p:nvSpPr>
        <p:spPr>
          <a:xfrm>
            <a:off x="647700" y="40862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Three return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FBCB5-47F7-4A3F-B009-64DB33442E4E}"/>
              </a:ext>
            </a:extLst>
          </p:cNvPr>
          <p:cNvSpPr>
            <a:spLocks noGrp="1"/>
          </p:cNvSpPr>
          <p:nvPr/>
        </p:nvSpPr>
        <p:spPr>
          <a:xfrm>
            <a:off x="647700" y="4610100"/>
            <a:ext cx="51435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Today’s return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Today’s negative return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Sum of the last five daily returns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303F67-9385-4C3F-AEEC-0B3D531931C3}"/>
              </a:ext>
            </a:extLst>
          </p:cNvPr>
          <p:cNvSpPr>
            <a:spLocks noGrp="1"/>
          </p:cNvSpPr>
          <p:nvPr/>
        </p:nvSpPr>
        <p:spPr>
          <a:xfrm>
            <a:off x="6477000" y="40862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Why include downside separately?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3EED7-406D-4B9D-B73C-69A11782112F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Allow the model to associate down days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with future variance differently.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455A2-5A5E-4423-AA99-C83E539937D2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The five-day feature is a return sum, not an exact compounded five-day return.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4F7F75-F4DA-8FF7-6A3D-92768C888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797" y="2328861"/>
            <a:ext cx="3012806" cy="95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5121B0-6B88-4A6C-8A1E-95C5315982BE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Models and regularization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2D320-ECFF-410F-9D41-96F5D2BDC112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Ridge and Lasso shrink coefficients to limit model complexity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CFC9B4-46F6-46E5-B245-B9CAFB287EA0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91A65-0874-4A8A-8E5F-6FBDDC540715}"/>
              </a:ext>
            </a:extLst>
          </p:cNvPr>
          <p:cNvSpPr>
            <a:spLocks noGrp="1"/>
          </p:cNvSpPr>
          <p:nvPr/>
        </p:nvSpPr>
        <p:spPr>
          <a:xfrm>
            <a:off x="647700" y="2447925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Regularized linear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F1167-5E7B-409C-ACDC-0E1433BACA24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Ridge penalty: λ Σ βⱼ²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penalty: λ Σ |βⱼ|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4C9A8-4317-4E86-85F6-9D78DC9984C3}"/>
              </a:ext>
            </a:extLst>
          </p:cNvPr>
          <p:cNvSpPr>
            <a:spLocks noGrp="1"/>
          </p:cNvSpPr>
          <p:nvPr/>
        </p:nvSpPr>
        <p:spPr>
          <a:xfrm>
            <a:off x="6477000" y="24479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Flexible alternatives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ECA2F-0FB9-4CE8-915F-7661FBC08E87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Decision Tree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Random Forest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Gradient Boosting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AB337C-DB33-4229-9495-4C9E96181742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Benchmarks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21B971-8754-4F61-9A31-F606DA1C94FD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Last-five-day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Historical average variance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CA307-B973-4152-83DA-DD7A392C6586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Penalty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A05B3-48D7-4809-B245-9AB2DDA36EA9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Tune separately for each series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Reuse across its four feature sets</a:t>
            </a:r>
          </a:p>
        </p:txBody>
      </p:sp>
    </p:spTree>
    <p:extLst>
      <p:ext uri="{BB962C8B-B14F-4D97-AF65-F5344CB8AC3E}">
        <p14:creationId xmlns:p14="http://schemas.microsoft.com/office/powerpoint/2010/main" val="166111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8B0D6E-9E72-48B6-A787-9DDA707A07EB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Fitting objective and validation metric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3C8869-91A4-4081-9AAB-3CA06631F54B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Fit log variance, then compare out-of-fold prediction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A6E24-9E61-4879-8F75-C6BBEFB0293F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23226-F02D-4F78-AA12-AD3A50983A3C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During fitting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CAB2E-8243-426D-961D-B71944777671}"/>
              </a:ext>
            </a:extLst>
          </p:cNvPr>
          <p:cNvSpPr>
            <a:spLocks noGrp="1"/>
          </p:cNvSpPr>
          <p:nvPr/>
        </p:nvSpPr>
        <p:spPr>
          <a:xfrm>
            <a:off x="647700" y="4581525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Squared errors on log variance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Ridge and Lasso add a penalty.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59CA79-FB18-4903-938F-34A85DC2AD7E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During model 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29917-6614-48C5-8473-19FAF9463D51}"/>
              </a:ext>
            </a:extLst>
          </p:cNvPr>
          <p:cNvSpPr>
            <a:spLocks noGrp="1"/>
          </p:cNvSpPr>
          <p:nvPr/>
        </p:nvSpPr>
        <p:spPr>
          <a:xfrm>
            <a:off x="6477000" y="45815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Average RMSE across validation folds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Lower values indicate better forecasts.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8F4C-1F95-4ACC-8FA7-ECC4EB60DB06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Reported CV is not nested. Penalty selection and model comparison reuse training-period folds.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09CFBE-34E1-2B03-ABDC-6B8613463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75" y="2200275"/>
            <a:ext cx="4089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6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2CB636-8BAE-49F8-9CF8-ED54F276661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Final-test loss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C2037-C1AA-4BA0-9F12-DDD24E4B62CE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QLIKE compares variance forecasts, while RMSE describes volatility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7FF7F-C6E6-4489-A531-9A5FD0A249D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8EA0D-652F-49EF-919C-EBCF860ED14C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5048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QLIKE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7B8F7-D8E2-4A6F-8EEF-ACD324003F96}"/>
              </a:ext>
            </a:extLst>
          </p:cNvPr>
          <p:cNvSpPr>
            <a:spLocks noGrp="1"/>
          </p:cNvSpPr>
          <p:nvPr/>
        </p:nvSpPr>
        <p:spPr>
          <a:xfrm>
            <a:off x="647700" y="437197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Proportional variance error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Strong penalty for severe underprediction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E8F72C-8768-4FF5-AC7E-F83297089477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Volatility RMSE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609DFD-FA08-42A9-91A8-EE1C450FBDFE}"/>
              </a:ext>
            </a:extLst>
          </p:cNvPr>
          <p:cNvSpPr>
            <a:spLocks noGrp="1"/>
          </p:cNvSpPr>
          <p:nvPr/>
        </p:nvSpPr>
        <p:spPr>
          <a:xfrm>
            <a:off x="6477000" y="437197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Error in annualized volatility points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Lower values indicate smaller errors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CC81C-17B3-4904-A4AC-EF0943EF9174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Asymmetric RMSE gives underprediction twice the squared-error weight. Lower loss is better.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54B207-CFF4-36C0-5331-A7E531EE4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2293937"/>
            <a:ext cx="28956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6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C7DD3F-9DB0-4F04-A80C-EE3032414C5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Chronological split and cross-validation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CCF98-A4E5-4C54-A38E-D15256FFAC3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Five expanding folds and five-day gaps protect target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C0A08-412D-4BAE-8EEB-82379BF44735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02AA89-AC07-4CC2-AB36-447893AC9734}"/>
              </a:ext>
            </a:extLst>
          </p:cNvPr>
          <p:cNvSpPr>
            <a:spLocks noGrp="1"/>
          </p:cNvSpPr>
          <p:nvPr/>
        </p:nvSpPr>
        <p:spPr>
          <a:xfrm>
            <a:off x="647700" y="237172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Within each validation fold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573B1F-6CEA-4248-A322-F2BEC7E03096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385762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 on earlier observations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Predict the next validation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82BF4-A27B-4931-82E9-B439B3967A15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Final fitting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8539F-A11C-434E-8B77-768508DBE5FA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385762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Fit on all training data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Keep parameters fixed in the 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606A8-A463-424A-83B3-D9E6116B5221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Split and CV diagram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C2225-2266-4B05-9084-FEDB37831783}"/>
              </a:ext>
            </a:extLst>
          </p:cNvPr>
          <p:cNvSpPr>
            <a:spLocks noGrp="1"/>
          </p:cNvSpPr>
          <p:nvPr/>
        </p:nvSpPr>
        <p:spPr>
          <a:xfrm>
            <a:off x="4953000" y="3933825"/>
            <a:ext cx="62388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Insert notebook C-2</a:t>
            </a:r>
          </a:p>
          <a:p>
            <a:pPr>
              <a:def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Show expanding folds and purge gaps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4C7741-6B19-8CC3-90C4-728E1E89C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721" y="2333625"/>
            <a:ext cx="7175579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19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69D267-D2BC-4AB4-BAAA-153CB78E19E4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BE10E8-24C6-431C-BA4B-FFCEC3A68ED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Lasso wins the CV, only slightly ahead of Ridge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561A2-ABD5-40DF-A526-F90CF1967D7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6CB1B-E52D-4728-A2B5-489E13C97F53}"/>
              </a:ext>
            </a:extLst>
          </p:cNvPr>
          <p:cNvSpPr>
            <a:spLocks noGrp="1"/>
          </p:cNvSpPr>
          <p:nvPr/>
        </p:nvSpPr>
        <p:spPr>
          <a:xfrm>
            <a:off x="628650" y="4658542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Model-family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E1F5F-8076-4985-83BE-061D05DB5B1E}"/>
              </a:ext>
            </a:extLst>
          </p:cNvPr>
          <p:cNvSpPr>
            <a:spLocks noGrp="1"/>
          </p:cNvSpPr>
          <p:nvPr/>
        </p:nvSpPr>
        <p:spPr>
          <a:xfrm>
            <a:off x="628649" y="5182417"/>
            <a:ext cx="7044359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ranks first overall</a:t>
            </a:r>
            <a:r>
              <a:rPr lang="en-US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 across all validation (sector x features)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CB99A9-0444-4A05-85AF-6F0BD1F140A8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233AF8-1959-455D-A118-8BAB3822328B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Overall family ranking averages A–G and all four specifications. Historical CV favors price + VIX.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EEF2A7-BAC6-C423-8D2D-B98C2DF00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2047467"/>
            <a:ext cx="6935464" cy="22495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86B469-4730-9D24-F38E-2964E811D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008" y="2012766"/>
            <a:ext cx="4331724" cy="26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46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D1815-795B-03B2-F0D8-C4251590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7599B2-D5D5-110A-AAB6-8ED42A8343E6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5AA33-B87B-19D0-D689-09C2D157810A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349857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Macro indicators do not help prediction; VIX does in CV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0CCAD-F64D-06BD-39EA-A7FFAF488ECE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530DC-0D59-0FA1-B833-2B9838A9A293}"/>
              </a:ext>
            </a:extLst>
          </p:cNvPr>
          <p:cNvSpPr>
            <a:spLocks noGrp="1"/>
          </p:cNvSpPr>
          <p:nvPr/>
        </p:nvSpPr>
        <p:spPr>
          <a:xfrm>
            <a:off x="647700" y="3224212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CV</a:t>
            </a: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99B12-0E41-D934-BB1D-807CAB217C65}"/>
              </a:ext>
            </a:extLst>
          </p:cNvPr>
          <p:cNvSpPr>
            <a:spLocks noGrp="1"/>
          </p:cNvSpPr>
          <p:nvPr/>
        </p:nvSpPr>
        <p:spPr>
          <a:xfrm>
            <a:off x="647700" y="3748087"/>
            <a:ext cx="3905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VIX improves historical CV</a:t>
            </a:r>
            <a:endParaRPr lang="vi-VN" sz="195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Macro set worsen CV error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987E1-66B6-F2BC-E4BF-761A21B878AC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E799F-024D-626C-358B-3E63BE2F39A8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Lasso, average RMSE across A–G: VIX lowers validation error, macro fundamentals raise it.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4BD90C-AD63-5ED0-1B68-52C4759B8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69" y="1781607"/>
            <a:ext cx="7772400" cy="288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22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4AA70-4C04-18BD-7679-115CDC2D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26A046-D1CF-868E-59CD-FB44E76186F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Training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F0EB9-4314-DDAB-3F53-C87DB90D05E2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3498573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Macro indicators do not help prediction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B0036-B11F-63BC-B351-6E2D5ACA986E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4AD7E-8C85-A0A6-338B-34861CEDBE72}"/>
              </a:ext>
            </a:extLst>
          </p:cNvPr>
          <p:cNvSpPr>
            <a:spLocks noGrp="1"/>
          </p:cNvSpPr>
          <p:nvPr/>
        </p:nvSpPr>
        <p:spPr>
          <a:xfrm>
            <a:off x="628650" y="3095625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Information-set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1425-BACC-F2B8-DC29-F0285D7B5490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3905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Tuned penalty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endParaRPr lang="vi-VN"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Overfitting signal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endParaRPr lang="vi-VN" sz="195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No gain at a 22-day horizon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16DC1-CD3D-6FE4-F210-1B3A5AA45FFB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6238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8B4C2"/>
                </a:solidFill>
                <a:latin typeface="Bitstream Charter"/>
                <a:ea typeface="Bitstream Charter"/>
                <a:cs typeface="Bitstream Charter"/>
              </a:rPr>
              <a:t>Training comparison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16E728-2EF1-70B6-73D3-C6ED9170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1014498"/>
            <a:ext cx="7239414" cy="486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7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39C82-18F4-77FB-49BB-924BC4BA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E1B45B-4E5B-0B08-54FE-CC99C6BFFD37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24203-4274-D55A-890F-CAECB94D91C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Selected model from CV: Lasso + price_vix feature set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6C3E2-E000-4C6D-9383-6A3908601AF5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C5EB5-FC48-49E4-6B47-3151D362A997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April: </a:t>
            </a:r>
            <a:r>
              <a:rPr lang="vi-VN"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33</a:t>
            </a:r>
            <a:r>
              <a:rPr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% lower QLIKE than naive</a:t>
            </a:r>
            <a:r>
              <a:rPr lang="vi-VN" sz="20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 (sector).               Full test: 36% lower QLIKE than naive (SPX).</a:t>
            </a:r>
            <a:endParaRPr sz="2000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367F9-8B94-6345-A200-62E09E3AE87F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DC5816-A267-BF20-AAB9-722344A2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543" y="2703795"/>
            <a:ext cx="7893313" cy="311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7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0E7C-0B6D-2D92-04FC-BFC5CAC9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AFF791-CB1B-4090-F3DB-D5F7D78F1E75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92141-E1DB-0AAF-DB31-C3F2F9F414BC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Does the CV ranking hold up in the test? Ridge and Lasso stay nearly tied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6A77EE-CD11-9CDF-D8E2-D06A471A71D8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EDAB5-5ABB-DC01-A8AE-481469B7F7D1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957378-767E-0C70-8DD6-15C856715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502" y="2165313"/>
            <a:ext cx="6813396" cy="367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61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72584-78C1-29CF-6922-890DAD92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67C46C-8B37-D8A8-9A7B-52A1D3AFC5D8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1CECE-B23F-6BD6-63C3-91E19CEBB73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/>
              <a:t>The model misses the onset (actual 62% vs model 19%), then adjusts faster than naive.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7B651-D7D5-0860-F4B1-EA95603B1A14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97158-8383-E4DD-EB9F-5966952C4879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24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260E56-C21E-8ED0-62E0-31FD86F230A3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A0AC6-2E3F-D518-D600-0A52DA035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33" y="2095500"/>
            <a:ext cx="9099532" cy="34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4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3487-3FAD-9301-7CD0-E8D25D4E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E26B41-099C-C792-2D70-3B97D35CF281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Test performance and forecast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BBD4B2-CDAF-E0BA-5CCC-DA07DD86983C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April by sector: lower QLIKE than naive in all six (23–40%), but only ~21 overlapping days</a:t>
            </a:r>
            <a:endParaRPr sz="1800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88AE78-D853-8180-DB99-E6B3C167DD31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4BEA6C-04A4-02B9-D000-EA5024D1E0C1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599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endParaRPr sz="2475" b="1">
              <a:solidFill>
                <a:srgbClr val="087E8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6B80B-6AA9-C378-E94F-781F66D957FD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EAE44-AA13-48C2-CA16-74AB4A159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85" y="1785937"/>
            <a:ext cx="7033627" cy="41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92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54C65-9346-4C3D-B3CB-352F82BD65C9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Does macro or VIX improve forecasts?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2B9E12-2BAE-484C-ACC3-4E564EA3E6D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Fundamentals add little, while VIX’s contribution varies by period and sector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6D876-133F-4C86-9FAC-A15930113E6B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A7620-856F-413E-92C8-212AB7A4495A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3952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Macro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2A748-305C-48DA-8A81-A70ACDC401C3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952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No reliable pooled improvement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Mixed sector-level changes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4A08B-B10B-4BBF-AE65-085D9B73D516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3952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VIX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AC5E8-7821-4F59-A0C2-0CA88DDB545B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3952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April: uncertain pooled gains</a:t>
            </a:r>
          </a:p>
          <a:p>
            <a:pPr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Full test: worse pooled forecasts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A1913E-D06C-4625-B656-E91B3576CEB0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Full-test VIX deterioration for pooled A–G: DM p = 0.0066. Tests are unadjusted for multiplicity.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DB6B2-FED0-0578-51EA-38F52DCE7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068854"/>
            <a:ext cx="7772400" cy="35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17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E023A00-4849-40B4-B4B1-E2FBD481C752}"/>
              </a:ext>
            </a:extLst>
          </p:cNvPr>
          <p:cNvSpPr>
            <a:spLocks noGrp="1"/>
          </p:cNvSpPr>
          <p:nvPr/>
        </p:nvSpPr>
        <p:spPr>
          <a:xfrm>
            <a:off x="628650" y="419100"/>
            <a:ext cx="108966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Conclusion and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CCB25-6818-4A1F-AA78-A5767CB735BF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Recent market information provides useful forecasts in this experiment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92DEC-8594-49EA-B265-03965CBC9889}"/>
              </a:ext>
            </a:extLst>
          </p:cNvPr>
          <p:cNvSpPr>
            <a:spLocks noGrp="1"/>
          </p:cNvSpPr>
          <p:nvPr/>
        </p:nvSpPr>
        <p:spPr>
          <a:xfrm>
            <a:off x="10991850" y="6267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rP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0291D5-850F-4FD0-B879-45E1D22A8062}"/>
              </a:ext>
            </a:extLst>
          </p:cNvPr>
          <p:cNvSpPr>
            <a:spLocks noGrp="1"/>
          </p:cNvSpPr>
          <p:nvPr/>
        </p:nvSpPr>
        <p:spPr>
          <a:xfrm>
            <a:off x="647700" y="23717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finding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2EDE-E1AB-4A7C-845E-B2231BB160BD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10572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Lasso and Ridge beat persistence.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Selected fundamentals add little reliable value.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FF2B1-B08F-4685-9F65-644CC3F3AF48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Main 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85DD6-E42D-43BA-9959-61AFC98E9E71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One event with overlapping targets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vi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Could not anticipate the initial surge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E2DC78-846C-49F1-B327-BC6B6C37FEAB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087E8B"/>
                </a:solidFill>
                <a:latin typeface="Bitstream Charter"/>
                <a:ea typeface="Bitstream Charter"/>
                <a:cs typeface="Bitstream Charter"/>
              </a:rPr>
              <a:t>Next steps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A231D6-221E-44A4-86EF-4B984E757FFA}"/>
              </a:ext>
            </a:extLst>
          </p:cNvPr>
          <p:cNvSpPr>
            <a:spLocks noGrp="1"/>
          </p:cNvSpPr>
          <p:nvPr/>
        </p:nvSpPr>
        <p:spPr>
          <a:xfrm>
            <a:off x="6477000" y="46196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More events and rolling model refitting</a:t>
            </a:r>
            <a:endParaRPr lang="vi-VN"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Economic context in the written report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VN" sz="1950" b="0">
                <a:solidFill>
                  <a:srgbClr val="142B49"/>
                </a:solidFill>
                <a:latin typeface="Bitstream Charter"/>
                <a:ea typeface="Bitstream Charter"/>
                <a:cs typeface="Bitstream Charter"/>
              </a:rPr>
              <a:t>Overnight-sensitive target</a:t>
            </a:r>
            <a:endParaRPr sz="1950" b="0">
              <a:solidFill>
                <a:srgbClr val="142B4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996A2-084E-40F3-8F3F-7E9102CDEAFF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58A"/>
                </a:solidFill>
                <a:latin typeface="Bitstream Charter"/>
                <a:ea typeface="Bitstream Charter"/>
                <a:cs typeface="Bitstream Charter"/>
              </a:defRPr>
            </a:pPr>
            <a:endParaRPr sz="1275" b="0">
              <a:solidFill>
                <a:srgbClr val="65758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8660534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4688</Words>
  <Application>Microsoft Macintosh PowerPoint</Application>
  <DocSecurity>0</DocSecurity>
  <PresentationFormat>Widescreen</PresentationFormat>
  <Paragraphs>364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Bitstream Charter</vt:lpstr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Dao Vu Anh, Jules</cp:lastModifiedBy>
  <cp:revision>6</cp:revision>
  <dcterms:created xsi:type="dcterms:W3CDTF">2026-10-05T06:00:55Z</dcterms:created>
  <dcterms:modified xsi:type="dcterms:W3CDTF">2026-10-08T08:58:38Z</dcterms:modified>
</cp:coreProperties>
</file>